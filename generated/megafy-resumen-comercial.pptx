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  <p:defaultTextStyle>
    <a:defPPr/>
    <a:lvl1pPr marL="0" indent="0">
      <a:defRPr sz="1800"/>
    </a:lvl1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 b="1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11" name="HeroCard"/>
          <p:cNvSpPr/>
          <p:nvPr/>
        </p:nvSpPr>
        <p:spPr>
          <a:xfrm>
            <a:off x="411480" y="502920"/>
            <a:ext cx="1129284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pic>
        <p:nvPicPr>
          <p:cNvPr id="12" name="Megafy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85800"/>
            <a:ext cx="1325880" cy="384048"/>
          </a:xfrm>
          <a:prstGeom prst="rect">
            <a:avLst/>
          </a:prstGeom>
        </p:spPr>
      </p:pic>
      <p:sp>
        <p:nvSpPr>
          <p:cNvPr id="13" name="HeaderTag"/>
          <p:cNvSpPr txBox="1"/>
          <p:nvPr/>
        </p:nvSpPr>
        <p:spPr>
          <a:xfrm>
            <a:off x="2103120" y="71323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PLATAFORMA DE GESTIÓN DOCUMENTAL ASISTIDA POR IA</a:t>
            </a:r>
            <a:endParaRPr lang="es-CL" sz="900"/>
          </a:p>
        </p:txBody>
      </p:sp>
      <p:sp>
        <p:nvSpPr>
          <p:cNvPr id="14" name="Pill"/>
          <p:cNvSpPr/>
          <p:nvPr/>
        </p:nvSpPr>
        <p:spPr>
          <a:xfrm>
            <a:off x="640080" y="1143000"/>
            <a:ext cx="1554480" cy="292608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67E8F9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15" name="PillTxt"/>
          <p:cNvSpPr txBox="1"/>
          <p:nvPr/>
        </p:nvSpPr>
        <p:spPr>
          <a:xfrm>
            <a:off x="786384" y="119786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00" b="1">
                <a:solidFill>
                  <a:srgbClr val="0891B2"/>
                </a:solidFill>
              </a:rPr>
              <a:t>ONE-PAGE COMERCIAL</a:t>
            </a:r>
            <a:endParaRPr lang="es-CL" sz="700"/>
          </a:p>
        </p:txBody>
      </p:sp>
      <p:sp>
        <p:nvSpPr>
          <p:cNvPr id="16" name="Title"/>
          <p:cNvSpPr txBox="1"/>
          <p:nvPr/>
        </p:nvSpPr>
        <p:spPr>
          <a:xfrm>
            <a:off x="640080" y="1508760"/>
            <a:ext cx="6583680" cy="11887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2200" b="1">
                <a:solidFill>
                  <a:srgbClr val="0F172A"/>
                </a:solidFill>
              </a:rPr>
              <a:t>Megafy transforma documentos operativos</a:t>
            </a:r>
            <a:endParaRPr lang="es-CL" sz="2200"/>
          </a:p>
          <a:p>
            <a:pPr/>
            <a:r>
              <a:rPr lang="es-CL" sz="2200" b="1">
                <a:solidFill>
                  <a:srgbClr val="0F172A"/>
                </a:solidFill>
              </a:rPr>
              <a:t>en conocimiento buscable y accionable</a:t>
            </a:r>
            <a:endParaRPr lang="es-CL" sz="2200"/>
          </a:p>
        </p:txBody>
      </p:sp>
      <p:sp>
        <p:nvSpPr>
          <p:cNvPr id="17" name="Subtitle"/>
          <p:cNvSpPr txBox="1"/>
          <p:nvPr/>
        </p:nvSpPr>
        <p:spPr>
          <a:xfrm>
            <a:off x="658368" y="2606040"/>
            <a:ext cx="6537960" cy="9601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1050">
                <a:solidFill>
                  <a:srgbClr val="475569"/>
                </a:solidFill>
              </a:rPr>
              <a:t>Centraliza expedientes, extrae datos con IA, habilita búsqueda conversacional con evidencias y genera</a:t>
            </a:r>
            <a:endParaRPr lang="es-CL" sz="1050"/>
          </a:p>
          <a:p>
            <a:pPr/>
            <a:r>
              <a:rPr lang="es-CL" sz="1050">
                <a:solidFill>
                  <a:srgbClr val="475569"/>
                </a:solidFill>
              </a:rPr>
              <a:t>reportes para equipos de content management, backoffice, compliance y operaciones.</a:t>
            </a:r>
            <a:endParaRPr lang="es-CL" sz="1050"/>
          </a:p>
        </p:txBody>
      </p:sp>
      <p:sp>
        <p:nvSpPr>
          <p:cNvPr id="18" name="CTA1"/>
          <p:cNvSpPr/>
          <p:nvPr/>
        </p:nvSpPr>
        <p:spPr>
          <a:xfrm>
            <a:off x="658368" y="3611880"/>
            <a:ext cx="1965960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19" name="CTA1Txt"/>
          <p:cNvSpPr txBox="1"/>
          <p:nvPr/>
        </p:nvSpPr>
        <p:spPr>
          <a:xfrm>
            <a:off x="877824" y="370332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50" b="1">
                <a:solidFill>
                  <a:srgbClr val="FFFFFF"/>
                </a:solidFill>
              </a:rPr>
              <a:t>Gestión + IA + Gobierno</a:t>
            </a:r>
            <a:endParaRPr lang="es-CL" sz="850"/>
          </a:p>
        </p:txBody>
      </p:sp>
      <p:sp>
        <p:nvSpPr>
          <p:cNvPr id="20" name="CTA2"/>
          <p:cNvSpPr/>
          <p:nvPr/>
        </p:nvSpPr>
        <p:spPr>
          <a:xfrm>
            <a:off x="2724912" y="3611880"/>
            <a:ext cx="1874519" cy="438912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CTA2Txt"/>
          <p:cNvSpPr txBox="1"/>
          <p:nvPr/>
        </p:nvSpPr>
        <p:spPr>
          <a:xfrm>
            <a:off x="2980944" y="37033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00" b="1">
                <a:solidFill>
                  <a:srgbClr val="FFFFFF"/>
                </a:solidFill>
              </a:rPr>
              <a:t>Búsqueda con evidencia</a:t>
            </a:r>
            <a:endParaRPr lang="es-CL" sz="800"/>
          </a:p>
        </p:txBody>
      </p:sp>
      <p:sp>
        <p:nvSpPr>
          <p:cNvPr id="22" name="ValueCard"/>
          <p:cNvSpPr/>
          <p:nvPr/>
        </p:nvSpPr>
        <p:spPr>
          <a:xfrm>
            <a:off x="7543800" y="1005840"/>
            <a:ext cx="3886200" cy="2971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3" name="ValueTitle"/>
          <p:cNvSpPr txBox="1"/>
          <p:nvPr/>
        </p:nvSpPr>
        <p:spPr>
          <a:xfrm>
            <a:off x="7818120" y="12344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1100" b="1">
                <a:solidFill>
                  <a:srgbClr val="0F172A"/>
                </a:solidFill>
              </a:rPr>
              <a:t>Valor inmediato para CM</a:t>
            </a:r>
            <a:endParaRPr lang="es-CL" sz="1100"/>
          </a:p>
        </p:txBody>
      </p:sp>
      <p:sp>
        <p:nvSpPr>
          <p:cNvPr id="24" name="Bullet24"/>
          <p:cNvSpPr txBox="1"/>
          <p:nvPr/>
        </p:nvSpPr>
        <p:spPr>
          <a:xfrm>
            <a:off x="7882127" y="16002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50">
                <a:solidFill>
                  <a:srgbClr val="334155"/>
                </a:solidFill>
              </a:rPr>
              <a:t>• Menos tiempo buscando documentos</a:t>
            </a:r>
            <a:endParaRPr lang="es-CL" sz="950"/>
          </a:p>
        </p:txBody>
      </p:sp>
      <p:sp>
        <p:nvSpPr>
          <p:cNvPr id="25" name="Bullet25"/>
          <p:cNvSpPr txBox="1"/>
          <p:nvPr/>
        </p:nvSpPr>
        <p:spPr>
          <a:xfrm>
            <a:off x="7882127" y="21031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50">
                <a:solidFill>
                  <a:srgbClr val="334155"/>
                </a:solidFill>
              </a:rPr>
              <a:t>• Mejor trazabilidad por operación</a:t>
            </a:r>
            <a:endParaRPr lang="es-CL" sz="950"/>
          </a:p>
        </p:txBody>
      </p:sp>
      <p:sp>
        <p:nvSpPr>
          <p:cNvPr id="26" name="Bullet26"/>
          <p:cNvSpPr txBox="1"/>
          <p:nvPr/>
        </p:nvSpPr>
        <p:spPr>
          <a:xfrm>
            <a:off x="7882127" y="26060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50">
                <a:solidFill>
                  <a:srgbClr val="334155"/>
                </a:solidFill>
              </a:rPr>
              <a:t>• Respuestas rápidas a auditorías</a:t>
            </a:r>
            <a:endParaRPr lang="es-CL" sz="950"/>
          </a:p>
        </p:txBody>
      </p:sp>
      <p:sp>
        <p:nvSpPr>
          <p:cNvPr id="27" name="Bullet27"/>
          <p:cNvSpPr txBox="1"/>
          <p:nvPr/>
        </p:nvSpPr>
        <p:spPr>
          <a:xfrm>
            <a:off x="7882127" y="31089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50">
                <a:solidFill>
                  <a:srgbClr val="334155"/>
                </a:solidFill>
              </a:rPr>
              <a:t>• Datos listos para reportes</a:t>
            </a:r>
            <a:endParaRPr lang="es-CL" sz="950"/>
          </a:p>
        </p:txBody>
      </p:sp>
      <p:sp>
        <p:nvSpPr>
          <p:cNvPr id="28" name="PVTitle"/>
          <p:cNvSpPr txBox="1"/>
          <p:nvPr/>
        </p:nvSpPr>
        <p:spPr>
          <a:xfrm>
            <a:off x="457200" y="461772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1500" b="1">
                <a:solidFill>
                  <a:srgbClr val="0F172A"/>
                </a:solidFill>
              </a:rPr>
              <a:t>Propuesta de valor</a:t>
            </a:r>
            <a:endParaRPr lang="es-CL" sz="1500"/>
          </a:p>
        </p:txBody>
      </p:sp>
      <p:sp>
        <p:nvSpPr>
          <p:cNvPr id="29" name="PVSub"/>
          <p:cNvSpPr txBox="1"/>
          <p:nvPr/>
        </p:nvSpPr>
        <p:spPr>
          <a:xfrm>
            <a:off x="457200" y="489204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>
                <a:solidFill>
                  <a:srgbClr val="64748B"/>
                </a:solidFill>
              </a:rPr>
              <a:t>Pensado para gestión de contenido documental en entornos operativos</a:t>
            </a:r>
            <a:endParaRPr lang="es-CL" sz="900"/>
          </a:p>
        </p:txBody>
      </p:sp>
      <p:sp>
        <p:nvSpPr>
          <p:cNvPr id="30" name="Card0"/>
          <p:cNvSpPr/>
          <p:nvPr/>
        </p:nvSpPr>
        <p:spPr>
          <a:xfrm>
            <a:off x="457200" y="5257800"/>
            <a:ext cx="3429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CardT0"/>
          <p:cNvSpPr txBox="1"/>
          <p:nvPr/>
        </p:nvSpPr>
        <p:spPr>
          <a:xfrm>
            <a:off x="640080" y="544068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50" b="1">
                <a:solidFill>
                  <a:srgbClr val="0F172A"/>
                </a:solidFill>
              </a:rPr>
              <a:t>Captura documental</a:t>
            </a:r>
            <a:endParaRPr lang="es-CL" sz="950"/>
          </a:p>
        </p:txBody>
      </p:sp>
      <p:sp>
        <p:nvSpPr>
          <p:cNvPr id="32" name="CardB0"/>
          <p:cNvSpPr txBox="1"/>
          <p:nvPr/>
        </p:nvSpPr>
        <p:spPr>
          <a:xfrm>
            <a:off x="640080" y="56692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00">
                <a:solidFill>
                  <a:srgbClr val="475569"/>
                </a:solidFill>
              </a:rPr>
              <a:t>Carga de PDFs e imágenes, drag &amp; drop y cámara móvil para expedientes.</a:t>
            </a:r>
            <a:endParaRPr lang="es-CL" sz="800"/>
          </a:p>
        </p:txBody>
      </p:sp>
      <p:sp>
        <p:nvSpPr>
          <p:cNvPr id="33" name="Card1"/>
          <p:cNvSpPr/>
          <p:nvPr/>
        </p:nvSpPr>
        <p:spPr>
          <a:xfrm>
            <a:off x="4114800" y="5257800"/>
            <a:ext cx="3429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4" name="CardT1"/>
          <p:cNvSpPr txBox="1"/>
          <p:nvPr/>
        </p:nvSpPr>
        <p:spPr>
          <a:xfrm>
            <a:off x="4297680" y="544068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50" b="1">
                <a:solidFill>
                  <a:srgbClr val="0F172A"/>
                </a:solidFill>
              </a:rPr>
              <a:t>Extracción IA</a:t>
            </a:r>
            <a:endParaRPr lang="es-CL" sz="950"/>
          </a:p>
        </p:txBody>
      </p:sp>
      <p:sp>
        <p:nvSpPr>
          <p:cNvPr id="35" name="CardB1"/>
          <p:cNvSpPr txBox="1"/>
          <p:nvPr/>
        </p:nvSpPr>
        <p:spPr>
          <a:xfrm>
            <a:off x="4297680" y="56692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00">
                <a:solidFill>
                  <a:srgbClr val="475569"/>
                </a:solidFill>
              </a:rPr>
              <a:t>Procesamiento en segundo plano para extraer texto y campos útiles.</a:t>
            </a:r>
            <a:endParaRPr lang="es-CL" sz="800"/>
          </a:p>
        </p:txBody>
      </p:sp>
      <p:sp>
        <p:nvSpPr>
          <p:cNvPr id="36" name="Card2"/>
          <p:cNvSpPr/>
          <p:nvPr/>
        </p:nvSpPr>
        <p:spPr>
          <a:xfrm>
            <a:off x="7772400" y="5257800"/>
            <a:ext cx="3429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7" name="CardT2"/>
          <p:cNvSpPr txBox="1"/>
          <p:nvPr/>
        </p:nvSpPr>
        <p:spPr>
          <a:xfrm>
            <a:off x="7955279" y="544068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50" b="1">
                <a:solidFill>
                  <a:srgbClr val="0F172A"/>
                </a:solidFill>
              </a:rPr>
              <a:t>Consulta y control</a:t>
            </a:r>
            <a:endParaRPr lang="es-CL" sz="950"/>
          </a:p>
        </p:txBody>
      </p:sp>
      <p:sp>
        <p:nvSpPr>
          <p:cNvPr id="38" name="CardB2"/>
          <p:cNvSpPr txBox="1"/>
          <p:nvPr/>
        </p:nvSpPr>
        <p:spPr>
          <a:xfrm>
            <a:off x="7955279" y="56692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00">
                <a:solidFill>
                  <a:srgbClr val="475569"/>
                </a:solidFill>
              </a:rPr>
              <a:t>Búsqueda por lenguaje natural, evidencias y gobierno por tipo documental.</a:t>
            </a:r>
            <a:endParaRPr lang="es-CL" sz="800"/>
          </a:p>
        </p:txBody>
      </p:sp>
      <p:cxnSp>
        <p:nvCxnSpPr>
          <p:cNvPr id="90" name="FooterLine"/>
          <p:cNvCxnSpPr/>
          <p:nvPr/>
        </p:nvCxnSpPr>
        <p:spPr>
          <a:xfrm>
            <a:off x="411480" y="6537960"/>
            <a:ext cx="11338560" cy="1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ooterLeft"/>
          <p:cNvSpPr txBox="1"/>
          <p:nvPr/>
        </p:nvSpPr>
        <p:spPr>
          <a:xfrm>
            <a:off x="457200" y="656539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00">
                <a:solidFill>
                  <a:srgbClr val="64748B"/>
                </a:solidFill>
              </a:rPr>
              <a:t>Megafy · Resumen comercial del sistema</a:t>
            </a:r>
            <a:endParaRPr lang="es-CL" sz="800"/>
          </a:p>
        </p:txBody>
      </p:sp>
      <p:sp>
        <p:nvSpPr>
          <p:cNvPr id="92" name="FooterRight"/>
          <p:cNvSpPr txBox="1"/>
          <p:nvPr/>
        </p:nvSpPr>
        <p:spPr>
          <a:xfrm>
            <a:off x="10515600" y="65653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s-CL" sz="800">
                <a:solidFill>
                  <a:srgbClr val="64748B"/>
                </a:solidFill>
              </a:rPr>
              <a:t>1/3</a:t>
            </a:r>
            <a:endParaRPr lang="es-CL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pic>
        <p:nvPicPr>
          <p:cNvPr id="11" name="Megafy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234440" cy="347472"/>
          </a:xfrm>
          <a:prstGeom prst="rect">
            <a:avLst/>
          </a:prstGeom>
        </p:spPr>
      </p:pic>
      <p:sp>
        <p:nvSpPr>
          <p:cNvPr id="12" name="Title"/>
          <p:cNvSpPr txBox="1"/>
          <p:nvPr/>
        </p:nvSpPr>
        <p:spPr>
          <a:xfrm>
            <a:off x="457200" y="7772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1700" b="1">
                <a:solidFill>
                  <a:srgbClr val="0F172A"/>
                </a:solidFill>
              </a:rPr>
              <a:t>Características clave del sistema</a:t>
            </a:r>
            <a:endParaRPr lang="es-CL" sz="1700"/>
          </a:p>
        </p:txBody>
      </p:sp>
      <p:sp>
        <p:nvSpPr>
          <p:cNvPr id="13" name="Sub"/>
          <p:cNvSpPr txBox="1"/>
          <p:nvPr/>
        </p:nvSpPr>
        <p:spPr>
          <a:xfrm>
            <a:off x="457200" y="10607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>
                <a:solidFill>
                  <a:srgbClr val="64748B"/>
                </a:solidFill>
              </a:rPr>
              <a:t>Funcionalidades actuales para captura, búsqueda, reporting y control documental</a:t>
            </a:r>
            <a:endParaRPr lang="es-CL" sz="900"/>
          </a:p>
        </p:txBody>
      </p:sp>
      <p:sp>
        <p:nvSpPr>
          <p:cNvPr id="14" name="F0"/>
          <p:cNvSpPr/>
          <p:nvPr/>
        </p:nvSpPr>
        <p:spPr>
          <a:xfrm>
            <a:off x="457200" y="146304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15" name="Dot0"/>
          <p:cNvSpPr/>
          <p:nvPr/>
        </p:nvSpPr>
        <p:spPr>
          <a:xfrm>
            <a:off x="566928" y="1581912"/>
            <a:ext cx="182880" cy="1828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16" name="FT0"/>
          <p:cNvSpPr txBox="1"/>
          <p:nvPr/>
        </p:nvSpPr>
        <p:spPr>
          <a:xfrm>
            <a:off x="804672" y="1572768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Alta de operaciones</a:t>
            </a:r>
            <a:endParaRPr lang="es-CL" sz="900"/>
          </a:p>
        </p:txBody>
      </p:sp>
      <p:sp>
        <p:nvSpPr>
          <p:cNvPr id="17" name="FB0"/>
          <p:cNvSpPr txBox="1"/>
          <p:nvPr/>
        </p:nvSpPr>
        <p:spPr>
          <a:xfrm>
            <a:off x="566928" y="1828800"/>
            <a:ext cx="3483863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475569"/>
                </a:solidFill>
              </a:rPr>
              <a:t>Cliente + identificación + múltiples documentos asociados.</a:t>
            </a:r>
            <a:endParaRPr lang="es-CL" sz="760"/>
          </a:p>
        </p:txBody>
      </p:sp>
      <p:sp>
        <p:nvSpPr>
          <p:cNvPr id="18" name="F1"/>
          <p:cNvSpPr/>
          <p:nvPr/>
        </p:nvSpPr>
        <p:spPr>
          <a:xfrm>
            <a:off x="4389120" y="146304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19" name="Dot1"/>
          <p:cNvSpPr/>
          <p:nvPr/>
        </p:nvSpPr>
        <p:spPr>
          <a:xfrm>
            <a:off x="4498848" y="1581912"/>
            <a:ext cx="182880" cy="1828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0" name="FT1"/>
          <p:cNvSpPr txBox="1"/>
          <p:nvPr/>
        </p:nvSpPr>
        <p:spPr>
          <a:xfrm>
            <a:off x="4736592" y="1572768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Carga móvil y escritorio</a:t>
            </a:r>
            <a:endParaRPr lang="es-CL" sz="900"/>
          </a:p>
        </p:txBody>
      </p:sp>
      <p:sp>
        <p:nvSpPr>
          <p:cNvPr id="21" name="FB1"/>
          <p:cNvSpPr txBox="1"/>
          <p:nvPr/>
        </p:nvSpPr>
        <p:spPr>
          <a:xfrm>
            <a:off x="4498848" y="1828800"/>
            <a:ext cx="3483863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475569"/>
                </a:solidFill>
              </a:rPr>
              <a:t>Drag &amp; drop, selección manual o cámara móvil.</a:t>
            </a:r>
            <a:endParaRPr lang="es-CL" sz="760"/>
          </a:p>
        </p:txBody>
      </p:sp>
      <p:sp>
        <p:nvSpPr>
          <p:cNvPr id="22" name="F2"/>
          <p:cNvSpPr/>
          <p:nvPr/>
        </p:nvSpPr>
        <p:spPr>
          <a:xfrm>
            <a:off x="8321040" y="146304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3" name="Dot2"/>
          <p:cNvSpPr/>
          <p:nvPr/>
        </p:nvSpPr>
        <p:spPr>
          <a:xfrm>
            <a:off x="8430767" y="1581912"/>
            <a:ext cx="182880" cy="1828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4" name="FT2"/>
          <p:cNvSpPr txBox="1"/>
          <p:nvPr/>
        </p:nvSpPr>
        <p:spPr>
          <a:xfrm>
            <a:off x="8668512" y="1572768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Compresión de imágenes</a:t>
            </a:r>
            <a:endParaRPr lang="es-CL" sz="900"/>
          </a:p>
        </p:txBody>
      </p:sp>
      <p:sp>
        <p:nvSpPr>
          <p:cNvPr id="25" name="FB2"/>
          <p:cNvSpPr txBox="1"/>
          <p:nvPr/>
        </p:nvSpPr>
        <p:spPr>
          <a:xfrm>
            <a:off x="8430767" y="1828800"/>
            <a:ext cx="3483863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475569"/>
                </a:solidFill>
              </a:rPr>
              <a:t>Optimización previa para subir más rápido.</a:t>
            </a:r>
            <a:endParaRPr lang="es-CL" sz="760"/>
          </a:p>
        </p:txBody>
      </p:sp>
      <p:sp>
        <p:nvSpPr>
          <p:cNvPr id="26" name="F3"/>
          <p:cNvSpPr/>
          <p:nvPr/>
        </p:nvSpPr>
        <p:spPr>
          <a:xfrm>
            <a:off x="457200" y="251460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7" name="Dot3"/>
          <p:cNvSpPr/>
          <p:nvPr/>
        </p:nvSpPr>
        <p:spPr>
          <a:xfrm>
            <a:off x="566928" y="2633472"/>
            <a:ext cx="182880" cy="1828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8" name="FT3"/>
          <p:cNvSpPr txBox="1"/>
          <p:nvPr/>
        </p:nvSpPr>
        <p:spPr>
          <a:xfrm>
            <a:off x="804672" y="2624328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Extracción de campos IA</a:t>
            </a:r>
            <a:endParaRPr lang="es-CL" sz="900"/>
          </a:p>
        </p:txBody>
      </p:sp>
      <p:sp>
        <p:nvSpPr>
          <p:cNvPr id="29" name="FB3"/>
          <p:cNvSpPr txBox="1"/>
          <p:nvPr/>
        </p:nvSpPr>
        <p:spPr>
          <a:xfrm>
            <a:off x="566928" y="2880360"/>
            <a:ext cx="3483863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475569"/>
                </a:solidFill>
              </a:rPr>
              <a:t>Texto y metadatos relevantes para consulta.</a:t>
            </a:r>
            <a:endParaRPr lang="es-CL" sz="760"/>
          </a:p>
        </p:txBody>
      </p:sp>
      <p:sp>
        <p:nvSpPr>
          <p:cNvPr id="30" name="F4"/>
          <p:cNvSpPr/>
          <p:nvPr/>
        </p:nvSpPr>
        <p:spPr>
          <a:xfrm>
            <a:off x="4389120" y="251460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1" name="Dot4"/>
          <p:cNvSpPr/>
          <p:nvPr/>
        </p:nvSpPr>
        <p:spPr>
          <a:xfrm>
            <a:off x="4498848" y="2633472"/>
            <a:ext cx="182880" cy="1828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FT4"/>
          <p:cNvSpPr txBox="1"/>
          <p:nvPr/>
        </p:nvSpPr>
        <p:spPr>
          <a:xfrm>
            <a:off x="4736592" y="2624328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Resumen por operación</a:t>
            </a:r>
            <a:endParaRPr lang="es-CL" sz="900"/>
          </a:p>
        </p:txBody>
      </p:sp>
      <p:sp>
        <p:nvSpPr>
          <p:cNvPr id="33" name="FB4"/>
          <p:cNvSpPr txBox="1"/>
          <p:nvPr/>
        </p:nvSpPr>
        <p:spPr>
          <a:xfrm>
            <a:off x="4498848" y="2880360"/>
            <a:ext cx="3483863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475569"/>
                </a:solidFill>
              </a:rPr>
              <a:t>Consolidación de extracción en contexto de negocio.</a:t>
            </a:r>
            <a:endParaRPr lang="es-CL" sz="760"/>
          </a:p>
        </p:txBody>
      </p:sp>
      <p:sp>
        <p:nvSpPr>
          <p:cNvPr id="34" name="F5"/>
          <p:cNvSpPr/>
          <p:nvPr/>
        </p:nvSpPr>
        <p:spPr>
          <a:xfrm>
            <a:off x="8321040" y="251460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5" name="Dot5"/>
          <p:cNvSpPr/>
          <p:nvPr/>
        </p:nvSpPr>
        <p:spPr>
          <a:xfrm>
            <a:off x="8430767" y="2633472"/>
            <a:ext cx="182880" cy="1828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6" name="FT5"/>
          <p:cNvSpPr txBox="1"/>
          <p:nvPr/>
        </p:nvSpPr>
        <p:spPr>
          <a:xfrm>
            <a:off x="8668512" y="2624328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Buscador conversacional</a:t>
            </a:r>
            <a:endParaRPr lang="es-CL" sz="900"/>
          </a:p>
        </p:txBody>
      </p:sp>
      <p:sp>
        <p:nvSpPr>
          <p:cNvPr id="37" name="FB5"/>
          <p:cNvSpPr txBox="1"/>
          <p:nvPr/>
        </p:nvSpPr>
        <p:spPr>
          <a:xfrm>
            <a:off x="8430767" y="2880360"/>
            <a:ext cx="3483863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475569"/>
                </a:solidFill>
              </a:rPr>
              <a:t>Preguntas en lenguaje natural al agente.</a:t>
            </a:r>
            <a:endParaRPr lang="es-CL" sz="760"/>
          </a:p>
        </p:txBody>
      </p:sp>
      <p:sp>
        <p:nvSpPr>
          <p:cNvPr id="38" name="F6"/>
          <p:cNvSpPr/>
          <p:nvPr/>
        </p:nvSpPr>
        <p:spPr>
          <a:xfrm>
            <a:off x="457200" y="356616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9" name="Dot6"/>
          <p:cNvSpPr/>
          <p:nvPr/>
        </p:nvSpPr>
        <p:spPr>
          <a:xfrm>
            <a:off x="566928" y="3685032"/>
            <a:ext cx="182880" cy="1828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0" name="FT6"/>
          <p:cNvSpPr txBox="1"/>
          <p:nvPr/>
        </p:nvSpPr>
        <p:spPr>
          <a:xfrm>
            <a:off x="804672" y="3675887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Evidencias visuales</a:t>
            </a:r>
            <a:endParaRPr lang="es-CL" sz="900"/>
          </a:p>
        </p:txBody>
      </p:sp>
      <p:sp>
        <p:nvSpPr>
          <p:cNvPr id="41" name="FB6"/>
          <p:cNvSpPr txBox="1"/>
          <p:nvPr/>
        </p:nvSpPr>
        <p:spPr>
          <a:xfrm>
            <a:off x="566928" y="3931920"/>
            <a:ext cx="3483863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475569"/>
                </a:solidFill>
              </a:rPr>
              <a:t>Miniaturas, snippets y acceso al documento fuente.</a:t>
            </a:r>
            <a:endParaRPr lang="es-CL" sz="760"/>
          </a:p>
        </p:txBody>
      </p:sp>
      <p:sp>
        <p:nvSpPr>
          <p:cNvPr id="42" name="F7"/>
          <p:cNvSpPr/>
          <p:nvPr/>
        </p:nvSpPr>
        <p:spPr>
          <a:xfrm>
            <a:off x="4389120" y="356616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3" name="Dot7"/>
          <p:cNvSpPr/>
          <p:nvPr/>
        </p:nvSpPr>
        <p:spPr>
          <a:xfrm>
            <a:off x="4498848" y="3685032"/>
            <a:ext cx="182880" cy="1828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4" name="FT7"/>
          <p:cNvSpPr txBox="1"/>
          <p:nvPr/>
        </p:nvSpPr>
        <p:spPr>
          <a:xfrm>
            <a:off x="4736592" y="3675887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Modos de búsqueda</a:t>
            </a:r>
            <a:endParaRPr lang="es-CL" sz="900"/>
          </a:p>
        </p:txBody>
      </p:sp>
      <p:sp>
        <p:nvSpPr>
          <p:cNvPr id="45" name="FB7"/>
          <p:cNvSpPr txBox="1"/>
          <p:nvPr/>
        </p:nvSpPr>
        <p:spPr>
          <a:xfrm>
            <a:off x="4498848" y="3931920"/>
            <a:ext cx="3483863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475569"/>
                </a:solidFill>
              </a:rPr>
              <a:t>Preciso o amplio según necesidad analítica.</a:t>
            </a:r>
            <a:endParaRPr lang="es-CL" sz="760"/>
          </a:p>
        </p:txBody>
      </p:sp>
      <p:sp>
        <p:nvSpPr>
          <p:cNvPr id="46" name="F8"/>
          <p:cNvSpPr/>
          <p:nvPr/>
        </p:nvSpPr>
        <p:spPr>
          <a:xfrm>
            <a:off x="8321040" y="356616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7" name="Dot8"/>
          <p:cNvSpPr/>
          <p:nvPr/>
        </p:nvSpPr>
        <p:spPr>
          <a:xfrm>
            <a:off x="8430767" y="3685032"/>
            <a:ext cx="182880" cy="1828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48" name="FT8"/>
          <p:cNvSpPr txBox="1"/>
          <p:nvPr/>
        </p:nvSpPr>
        <p:spPr>
          <a:xfrm>
            <a:off x="8668512" y="3675887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Reportes inteligentes</a:t>
            </a:r>
            <a:endParaRPr lang="es-CL" sz="900"/>
          </a:p>
        </p:txBody>
      </p:sp>
      <p:sp>
        <p:nvSpPr>
          <p:cNvPr id="49" name="FB8"/>
          <p:cNvSpPr txBox="1"/>
          <p:nvPr/>
        </p:nvSpPr>
        <p:spPr>
          <a:xfrm>
            <a:off x="8430767" y="3931920"/>
            <a:ext cx="3483863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475569"/>
                </a:solidFill>
              </a:rPr>
              <a:t>Evolución, tipos de documento y top clientes.</a:t>
            </a:r>
            <a:endParaRPr lang="es-CL" sz="760"/>
          </a:p>
        </p:txBody>
      </p:sp>
      <p:sp>
        <p:nvSpPr>
          <p:cNvPr id="50" name="F9"/>
          <p:cNvSpPr/>
          <p:nvPr/>
        </p:nvSpPr>
        <p:spPr>
          <a:xfrm>
            <a:off x="457200" y="461772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51" name="Dot9"/>
          <p:cNvSpPr/>
          <p:nvPr/>
        </p:nvSpPr>
        <p:spPr>
          <a:xfrm>
            <a:off x="566928" y="4736592"/>
            <a:ext cx="182880" cy="1828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52" name="FT9"/>
          <p:cNvSpPr txBox="1"/>
          <p:nvPr/>
        </p:nvSpPr>
        <p:spPr>
          <a:xfrm>
            <a:off x="804672" y="4727448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Exportación</a:t>
            </a:r>
            <a:endParaRPr lang="es-CL" sz="900"/>
          </a:p>
        </p:txBody>
      </p:sp>
      <p:sp>
        <p:nvSpPr>
          <p:cNvPr id="53" name="FB9"/>
          <p:cNvSpPr txBox="1"/>
          <p:nvPr/>
        </p:nvSpPr>
        <p:spPr>
          <a:xfrm>
            <a:off x="566928" y="4983480"/>
            <a:ext cx="3483863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475569"/>
                </a:solidFill>
              </a:rPr>
              <a:t>Resultados descargables en CSV y PDF.</a:t>
            </a:r>
            <a:endParaRPr lang="es-CL" sz="760"/>
          </a:p>
        </p:txBody>
      </p:sp>
      <p:sp>
        <p:nvSpPr>
          <p:cNvPr id="54" name="F10"/>
          <p:cNvSpPr/>
          <p:nvPr/>
        </p:nvSpPr>
        <p:spPr>
          <a:xfrm>
            <a:off x="4389120" y="461772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55" name="Dot10"/>
          <p:cNvSpPr/>
          <p:nvPr/>
        </p:nvSpPr>
        <p:spPr>
          <a:xfrm>
            <a:off x="4498848" y="4736592"/>
            <a:ext cx="182880" cy="1828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56" name="FT10"/>
          <p:cNvSpPr txBox="1"/>
          <p:nvPr/>
        </p:nvSpPr>
        <p:spPr>
          <a:xfrm>
            <a:off x="4736592" y="4727448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KPIs operacionales</a:t>
            </a:r>
            <a:endParaRPr lang="es-CL" sz="900"/>
          </a:p>
        </p:txBody>
      </p:sp>
      <p:sp>
        <p:nvSpPr>
          <p:cNvPr id="57" name="FB10"/>
          <p:cNvSpPr txBox="1"/>
          <p:nvPr/>
        </p:nvSpPr>
        <p:spPr>
          <a:xfrm>
            <a:off x="4498848" y="4983480"/>
            <a:ext cx="3483863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475569"/>
                </a:solidFill>
              </a:rPr>
              <a:t>Operaciones, documentos y clientes únicos por período.</a:t>
            </a:r>
            <a:endParaRPr lang="es-CL" sz="760"/>
          </a:p>
        </p:txBody>
      </p:sp>
      <p:sp>
        <p:nvSpPr>
          <p:cNvPr id="58" name="F11"/>
          <p:cNvSpPr/>
          <p:nvPr/>
        </p:nvSpPr>
        <p:spPr>
          <a:xfrm>
            <a:off x="8321040" y="461772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59" name="Dot11"/>
          <p:cNvSpPr/>
          <p:nvPr/>
        </p:nvSpPr>
        <p:spPr>
          <a:xfrm>
            <a:off x="8430767" y="4736592"/>
            <a:ext cx="182880" cy="1828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60" name="FT11"/>
          <p:cNvSpPr txBox="1"/>
          <p:nvPr/>
        </p:nvSpPr>
        <p:spPr>
          <a:xfrm>
            <a:off x="8668512" y="4727448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0F172A"/>
                </a:solidFill>
              </a:rPr>
              <a:t>Seguridad documental</a:t>
            </a:r>
            <a:endParaRPr lang="es-CL" sz="900"/>
          </a:p>
        </p:txBody>
      </p:sp>
      <p:sp>
        <p:nvSpPr>
          <p:cNvPr id="61" name="FB11"/>
          <p:cNvSpPr txBox="1"/>
          <p:nvPr/>
        </p:nvSpPr>
        <p:spPr>
          <a:xfrm>
            <a:off x="8430767" y="4983480"/>
            <a:ext cx="3483863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475569"/>
                </a:solidFill>
              </a:rPr>
              <a:t>Matriz de permisos por grupo y tipo documental.</a:t>
            </a:r>
            <a:endParaRPr lang="es-CL" sz="760"/>
          </a:p>
        </p:txBody>
      </p:sp>
      <p:sp>
        <p:nvSpPr>
          <p:cNvPr id="62" name="ArchBox"/>
          <p:cNvSpPr/>
          <p:nvPr/>
        </p:nvSpPr>
        <p:spPr>
          <a:xfrm>
            <a:off x="457200" y="5577840"/>
            <a:ext cx="740664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63" name="ArchTxt"/>
          <p:cNvSpPr txBox="1"/>
          <p:nvPr/>
        </p:nvSpPr>
        <p:spPr>
          <a:xfrm>
            <a:off x="685800" y="578815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20" b="1">
                <a:solidFill>
                  <a:srgbClr val="FFFFFF"/>
                </a:solidFill>
              </a:rPr>
              <a:t>Arquitectura moderna: Next.js + Prisma + PostgreSQL + IA (OpenAI/Gemini) + almacenamiento compatible con Vercel Blob</a:t>
            </a:r>
            <a:endParaRPr lang="es-CL" sz="820"/>
          </a:p>
        </p:txBody>
      </p:sp>
      <p:sp>
        <p:nvSpPr>
          <p:cNvPr id="64" name="RoleBox"/>
          <p:cNvSpPr/>
          <p:nvPr/>
        </p:nvSpPr>
        <p:spPr>
          <a:xfrm>
            <a:off x="8046720" y="5577840"/>
            <a:ext cx="368503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65" name="RoleTxt"/>
          <p:cNvSpPr txBox="1"/>
          <p:nvPr/>
        </p:nvSpPr>
        <p:spPr>
          <a:xfrm>
            <a:off x="8229600" y="5705856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00" b="1">
                <a:solidFill>
                  <a:srgbClr val="0F172A"/>
                </a:solidFill>
              </a:rPr>
              <a:t>Roles: Capturador (ingesta) + Analista (búsqueda y reportes)</a:t>
            </a:r>
            <a:endParaRPr lang="es-CL" sz="800"/>
          </a:p>
        </p:txBody>
      </p:sp>
      <p:cxnSp>
        <p:nvCxnSpPr>
          <p:cNvPr id="200" name="FooterLine"/>
          <p:cNvCxnSpPr/>
          <p:nvPr/>
        </p:nvCxnSpPr>
        <p:spPr>
          <a:xfrm>
            <a:off x="411480" y="6537960"/>
            <a:ext cx="11338560" cy="1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FooterLeft"/>
          <p:cNvSpPr txBox="1"/>
          <p:nvPr/>
        </p:nvSpPr>
        <p:spPr>
          <a:xfrm>
            <a:off x="457200" y="656539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00">
                <a:solidFill>
                  <a:srgbClr val="64748B"/>
                </a:solidFill>
              </a:rPr>
              <a:t>Megafy · Resumen comercial del sistema</a:t>
            </a:r>
            <a:endParaRPr lang="es-CL" sz="800"/>
          </a:p>
        </p:txBody>
      </p:sp>
      <p:sp>
        <p:nvSpPr>
          <p:cNvPr id="202" name="FooterRight"/>
          <p:cNvSpPr txBox="1"/>
          <p:nvPr/>
        </p:nvSpPr>
        <p:spPr>
          <a:xfrm>
            <a:off x="10515600" y="65653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s-CL" sz="800">
                <a:solidFill>
                  <a:srgbClr val="64748B"/>
                </a:solidFill>
              </a:rPr>
              <a:t>2/3</a:t>
            </a:r>
            <a:endParaRPr lang="es-CL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pic>
        <p:nvPicPr>
          <p:cNvPr id="11" name="Megafy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234440" cy="347472"/>
          </a:xfrm>
          <a:prstGeom prst="rect">
            <a:avLst/>
          </a:prstGeom>
        </p:spPr>
      </p:pic>
      <p:sp>
        <p:nvSpPr>
          <p:cNvPr id="12" name="Title"/>
          <p:cNvSpPr txBox="1"/>
          <p:nvPr/>
        </p:nvSpPr>
        <p:spPr>
          <a:xfrm>
            <a:off x="457200" y="77724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1700" b="1">
                <a:solidFill>
                  <a:srgbClr val="0F172A"/>
                </a:solidFill>
              </a:rPr>
              <a:t>Beneficios comerciales y narrativa de venta</a:t>
            </a:r>
            <a:endParaRPr lang="es-CL" sz="1700"/>
          </a:p>
        </p:txBody>
      </p:sp>
      <p:sp>
        <p:nvSpPr>
          <p:cNvPr id="13" name="Sub"/>
          <p:cNvSpPr txBox="1"/>
          <p:nvPr/>
        </p:nvSpPr>
        <p:spPr>
          <a:xfrm>
            <a:off x="457200" y="1060704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>
                <a:solidFill>
                  <a:srgbClr val="64748B"/>
                </a:solidFill>
              </a:rPr>
              <a:t>Resumen para presentar Megafy a stakeholders internos o clientes</a:t>
            </a:r>
            <a:endParaRPr lang="es-CL" sz="900"/>
          </a:p>
        </p:txBody>
      </p:sp>
      <p:sp>
        <p:nvSpPr>
          <p:cNvPr id="14" name="BizBox"/>
          <p:cNvSpPr/>
          <p:nvPr/>
        </p:nvSpPr>
        <p:spPr>
          <a:xfrm>
            <a:off x="457200" y="1463040"/>
            <a:ext cx="5623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15" name="BizTitle"/>
          <p:cNvSpPr txBox="1"/>
          <p:nvPr/>
        </p:nvSpPr>
        <p:spPr>
          <a:xfrm>
            <a:off x="685800" y="1664208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1050" b="1">
                <a:solidFill>
                  <a:srgbClr val="0F172A"/>
                </a:solidFill>
              </a:rPr>
              <a:t>Beneficios de negocio</a:t>
            </a:r>
            <a:endParaRPr lang="es-CL" sz="1050"/>
          </a:p>
        </p:txBody>
      </p:sp>
      <p:sp>
        <p:nvSpPr>
          <p:cNvPr id="16" name="Biz0"/>
          <p:cNvSpPr txBox="1"/>
          <p:nvPr/>
        </p:nvSpPr>
        <p:spPr>
          <a:xfrm>
            <a:off x="731520" y="19659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20">
                <a:solidFill>
                  <a:srgbClr val="334155"/>
                </a:solidFill>
              </a:rPr>
              <a:t>• Acelera respuesta ante requerimientos internos y auditorías.</a:t>
            </a:r>
            <a:endParaRPr lang="es-CL" sz="820"/>
          </a:p>
        </p:txBody>
      </p:sp>
      <p:sp>
        <p:nvSpPr>
          <p:cNvPr id="17" name="Biz1"/>
          <p:cNvSpPr txBox="1"/>
          <p:nvPr/>
        </p:nvSpPr>
        <p:spPr>
          <a:xfrm>
            <a:off x="731520" y="229514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20">
                <a:solidFill>
                  <a:srgbClr val="334155"/>
                </a:solidFill>
              </a:rPr>
              <a:t>• Reduce fricción entre captura documental y análisis de información.</a:t>
            </a:r>
            <a:endParaRPr lang="es-CL" sz="820"/>
          </a:p>
        </p:txBody>
      </p:sp>
      <p:sp>
        <p:nvSpPr>
          <p:cNvPr id="18" name="Biz2"/>
          <p:cNvSpPr txBox="1"/>
          <p:nvPr/>
        </p:nvSpPr>
        <p:spPr>
          <a:xfrm>
            <a:off x="731520" y="262432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20">
                <a:solidFill>
                  <a:srgbClr val="334155"/>
                </a:solidFill>
              </a:rPr>
              <a:t>• Mejora consistencia de datos extraídos desde documentos.</a:t>
            </a:r>
            <a:endParaRPr lang="es-CL" sz="820"/>
          </a:p>
        </p:txBody>
      </p:sp>
      <p:sp>
        <p:nvSpPr>
          <p:cNvPr id="19" name="Biz3"/>
          <p:cNvSpPr txBox="1"/>
          <p:nvPr/>
        </p:nvSpPr>
        <p:spPr>
          <a:xfrm>
            <a:off x="731520" y="295351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20">
                <a:solidFill>
                  <a:srgbClr val="334155"/>
                </a:solidFill>
              </a:rPr>
              <a:t>• Escala recuperación de contenido sin aumentar carga manual.</a:t>
            </a:r>
            <a:endParaRPr lang="es-CL" sz="820"/>
          </a:p>
        </p:txBody>
      </p:sp>
      <p:sp>
        <p:nvSpPr>
          <p:cNvPr id="20" name="SalesBox"/>
          <p:cNvSpPr/>
          <p:nvPr/>
        </p:nvSpPr>
        <p:spPr>
          <a:xfrm>
            <a:off x="6263640" y="1463040"/>
            <a:ext cx="546811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1" name="SalesTitle"/>
          <p:cNvSpPr txBox="1"/>
          <p:nvPr/>
        </p:nvSpPr>
        <p:spPr>
          <a:xfrm>
            <a:off x="6492240" y="1664208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1050" b="1">
                <a:solidFill>
                  <a:srgbClr val="0F172A"/>
                </a:solidFill>
              </a:rPr>
              <a:t>Mensajes de venta (B2B)</a:t>
            </a:r>
            <a:endParaRPr lang="es-CL" sz="1050"/>
          </a:p>
        </p:txBody>
      </p:sp>
      <p:sp>
        <p:nvSpPr>
          <p:cNvPr id="22" name="Sales0"/>
          <p:cNvSpPr txBox="1"/>
          <p:nvPr/>
        </p:nvSpPr>
        <p:spPr>
          <a:xfrm>
            <a:off x="6537960" y="19659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00">
                <a:solidFill>
                  <a:srgbClr val="334155"/>
                </a:solidFill>
              </a:rPr>
              <a:t>• De documentos estáticos a conocimiento operativo consultable.</a:t>
            </a:r>
            <a:endParaRPr lang="es-CL" sz="800"/>
          </a:p>
        </p:txBody>
      </p:sp>
      <p:sp>
        <p:nvSpPr>
          <p:cNvPr id="23" name="Sales1"/>
          <p:cNvSpPr txBox="1"/>
          <p:nvPr/>
        </p:nvSpPr>
        <p:spPr>
          <a:xfrm>
            <a:off x="6537960" y="2295144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00">
                <a:solidFill>
                  <a:srgbClr val="334155"/>
                </a:solidFill>
              </a:rPr>
              <a:t>• IA con evidencias (snippets, miniaturas y fuente).</a:t>
            </a:r>
            <a:endParaRPr lang="es-CL" sz="800"/>
          </a:p>
        </p:txBody>
      </p:sp>
      <p:sp>
        <p:nvSpPr>
          <p:cNvPr id="24" name="Sales2"/>
          <p:cNvSpPr txBox="1"/>
          <p:nvPr/>
        </p:nvSpPr>
        <p:spPr>
          <a:xfrm>
            <a:off x="6537960" y="262432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00">
                <a:solidFill>
                  <a:srgbClr val="334155"/>
                </a:solidFill>
              </a:rPr>
              <a:t>• Reporting listo para seguimiento y decisiones.</a:t>
            </a:r>
            <a:endParaRPr lang="es-CL" sz="800"/>
          </a:p>
        </p:txBody>
      </p:sp>
      <p:sp>
        <p:nvSpPr>
          <p:cNvPr id="25" name="Sales3"/>
          <p:cNvSpPr txBox="1"/>
          <p:nvPr/>
        </p:nvSpPr>
        <p:spPr>
          <a:xfrm>
            <a:off x="6537960" y="2953512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00">
                <a:solidFill>
                  <a:srgbClr val="334155"/>
                </a:solidFill>
              </a:rPr>
              <a:t>• Gobierno documental alineado con seguridad de acceso.</a:t>
            </a:r>
            <a:endParaRPr lang="es-CL" sz="800"/>
          </a:p>
        </p:txBody>
      </p:sp>
      <p:sp>
        <p:nvSpPr>
          <p:cNvPr id="26" name="CaseBox"/>
          <p:cNvSpPr/>
          <p:nvPr/>
        </p:nvSpPr>
        <p:spPr>
          <a:xfrm>
            <a:off x="457200" y="3703320"/>
            <a:ext cx="11274552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27" name="CaseTitle"/>
          <p:cNvSpPr txBox="1"/>
          <p:nvPr/>
        </p:nvSpPr>
        <p:spPr>
          <a:xfrm>
            <a:off x="731520" y="395020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1150" b="1">
                <a:solidFill>
                  <a:srgbClr val="FFFFFF"/>
                </a:solidFill>
              </a:rPr>
              <a:t>Caso de uso de referencia (Content Management)</a:t>
            </a:r>
            <a:endParaRPr lang="es-CL" sz="1150"/>
          </a:p>
        </p:txBody>
      </p:sp>
      <p:sp>
        <p:nvSpPr>
          <p:cNvPr id="28" name="CaseBody"/>
          <p:cNvSpPr txBox="1"/>
          <p:nvPr/>
        </p:nvSpPr>
        <p:spPr>
          <a:xfrm>
            <a:off x="731520" y="4261104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20">
                <a:solidFill>
                  <a:srgbClr val="E2E8F0"/>
                </a:solidFill>
              </a:rPr>
              <a:t>Un equipo de operaciones recibe expedientes con facturas, identificaciones y respaldos. Megafy centraliza la carga, extrae metadatos, permite buscar por prompt y emite reportes sin recorrer carpetas manualmente.</a:t>
            </a:r>
            <a:endParaRPr lang="es-CL" sz="820"/>
          </a:p>
        </p:txBody>
      </p:sp>
      <p:sp>
        <p:nvSpPr>
          <p:cNvPr id="29" name="ResultPill"/>
          <p:cNvSpPr/>
          <p:nvPr/>
        </p:nvSpPr>
        <p:spPr>
          <a:xfrm>
            <a:off x="731520" y="4773168"/>
            <a:ext cx="3794760" cy="292608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0" name="ResultTxt"/>
          <p:cNvSpPr txBox="1"/>
          <p:nvPr/>
        </p:nvSpPr>
        <p:spPr>
          <a:xfrm>
            <a:off x="914400" y="4837176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 b="1">
                <a:solidFill>
                  <a:srgbClr val="FFFFFF"/>
                </a:solidFill>
              </a:rPr>
              <a:t>Resultado: rapidez + control + trazabilidad</a:t>
            </a:r>
            <a:endParaRPr lang="es-CL" sz="760"/>
          </a:p>
        </p:txBody>
      </p:sp>
      <p:sp>
        <p:nvSpPr>
          <p:cNvPr id="31" name="DecisionBox"/>
          <p:cNvSpPr/>
          <p:nvPr/>
        </p:nvSpPr>
        <p:spPr>
          <a:xfrm>
            <a:off x="457200" y="5303520"/>
            <a:ext cx="11274552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2" name="DecisionTitle"/>
          <p:cNvSpPr txBox="1"/>
          <p:nvPr/>
        </p:nvSpPr>
        <p:spPr>
          <a:xfrm>
            <a:off x="731520" y="548640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900" b="1">
                <a:solidFill>
                  <a:srgbClr val="1E40AF"/>
                </a:solidFill>
              </a:rPr>
              <a:t>Resumen ejecutivo para decisión</a:t>
            </a:r>
            <a:endParaRPr lang="es-CL" sz="900"/>
          </a:p>
        </p:txBody>
      </p:sp>
      <p:sp>
        <p:nvSpPr>
          <p:cNvPr id="33" name="DecisionBody"/>
          <p:cNvSpPr txBox="1"/>
          <p:nvPr/>
        </p:nvSpPr>
        <p:spPr>
          <a:xfrm>
            <a:off x="731520" y="57150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>
                <a:solidFill>
                  <a:srgbClr val="1E3A8A"/>
                </a:solidFill>
              </a:rPr>
              <a:t>Megafy unifica captura, extracción IA, búsqueda asistida y reporting documental, con valor directo para equipos con alto volumen de documentos.</a:t>
            </a:r>
            <a:endParaRPr lang="es-CL" sz="760"/>
          </a:p>
        </p:txBody>
      </p:sp>
      <p:sp>
        <p:nvSpPr>
          <p:cNvPr id="34" name="CTABox"/>
          <p:cNvSpPr/>
          <p:nvPr/>
        </p:nvSpPr>
        <p:spPr>
          <a:xfrm>
            <a:off x="457200" y="6144768"/>
            <a:ext cx="11274552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/>
        </p:txBody>
      </p:sp>
      <p:sp>
        <p:nvSpPr>
          <p:cNvPr id="35" name="CTAText"/>
          <p:cNvSpPr txBox="1"/>
          <p:nvPr/>
        </p:nvSpPr>
        <p:spPr>
          <a:xfrm>
            <a:off x="731520" y="6236208"/>
            <a:ext cx="1060704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760" b="1">
                <a:solidFill>
                  <a:srgbClr val="065F46"/>
                </a:solidFill>
              </a:rPr>
              <a:t>CTA sugerido: demo guiada con expedientes reales y medición de tiempo de búsqueda antes/después.</a:t>
            </a:r>
            <a:endParaRPr lang="es-CL" sz="760"/>
          </a:p>
        </p:txBody>
      </p:sp>
      <p:cxnSp>
        <p:nvCxnSpPr>
          <p:cNvPr id="250" name="FooterLine"/>
          <p:cNvCxnSpPr/>
          <p:nvPr/>
        </p:nvCxnSpPr>
        <p:spPr>
          <a:xfrm>
            <a:off x="411480" y="6537960"/>
            <a:ext cx="11338560" cy="1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FooterLeft"/>
          <p:cNvSpPr txBox="1"/>
          <p:nvPr/>
        </p:nvSpPr>
        <p:spPr>
          <a:xfrm>
            <a:off x="457200" y="656539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es-CL" sz="800">
                <a:solidFill>
                  <a:srgbClr val="64748B"/>
                </a:solidFill>
              </a:rPr>
              <a:t>Megafy · Resumen comercial del sistema</a:t>
            </a:r>
            <a:endParaRPr lang="es-CL" sz="800"/>
          </a:p>
        </p:txBody>
      </p:sp>
      <p:sp>
        <p:nvSpPr>
          <p:cNvPr id="252" name="FooterRight"/>
          <p:cNvSpPr txBox="1"/>
          <p:nvPr/>
        </p:nvSpPr>
        <p:spPr>
          <a:xfrm>
            <a:off x="10515600" y="656539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s-CL" sz="800">
                <a:solidFill>
                  <a:srgbClr val="64748B"/>
                </a:solidFill>
              </a:rPr>
              <a:t>3/3</a:t>
            </a:r>
            <a:endParaRPr lang="es-CL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gafyTheme">
  <a:themeElements>
    <a:clrScheme name="Megafy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06B6D4"/>
      </a:accent1>
      <a:accent2>
        <a:srgbClr val="3B82F6"/>
      </a:accent2>
      <a:accent3>
        <a:srgbClr val="10B981"/>
      </a:accent3>
      <a:accent4>
        <a:srgbClr val="0EA5E9"/>
      </a:accent4>
      <a:accent5>
        <a:srgbClr val="22C55E"/>
      </a:accent5>
      <a:accent6>
        <a:srgbClr val="64748B"/>
      </a:accent6>
      <a:hlink>
        <a:srgbClr val="2563EB"/>
      </a:hlink>
      <a:folHlink>
        <a:srgbClr val="7C3AED"/>
      </a:folHlink>
    </a:clrScheme>
    <a:fontScheme name="Megafy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</Slides>
  <Notes>0</Notes>
  <HiddenSlides>0</HiddenSlides>
  <MMClips>0</MMClips>
  <ScaleCrop>false</ScaleCrop>
  <HeadingPairs>
    <vt:vector size="2" baseType="variant">
      <vt:variant>
        <vt:lpstr>Diapositivas</vt:lpstr>
      </vt:variant>
      <vt:variant>
        <vt:i4>3</vt:i4>
      </vt:variant>
    </vt:vector>
  </HeadingPairs>
  <TitlesOfParts>
    <vt:vector size="3" baseType="lpstr">
      <vt:lpstr>Resumen comercial</vt:lpstr>
      <vt:lpstr>Características</vt:lpstr>
      <vt:lpstr>Beneficios y venta</vt:lpstr>
    </vt:vector>
  </TitlesOfParts>
  <Company>Megafy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Megafy - Resumen comercial del sistema</dc:title>
  <dc:creator>Codex</dc:creator>
  <cp:lastModifiedBy>Codex</cp:lastModifiedBy>
  <dcterms:created xsi:type="dcterms:W3CDTF">2026-02-23T21:00:11Z</dcterms:created>
  <dcterms:modified xsi:type="dcterms:W3CDTF">2026-02-23T21:00:11Z</dcterms:modified>
</cp:coreProperties>
</file>